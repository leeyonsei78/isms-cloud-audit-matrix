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488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A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HOLDINGS · AWS + AZURE MULTI-CLOUD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542032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 그룹 멀티클라우드 아키텍처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7588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계열사·자회사가 AWS·Azure를 함께 사용하는 폐쇄망 아키텍처 — 공통망·계열사망 연결, 보안 Zone 운영, 금융보안원 가이드라인·자체 위험평가(CSA) 준수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4892040"/>
            <a:ext cx="2275027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4892040"/>
            <a:ext cx="22750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인터넷 게이트웨이 없음 · 완전 폐쇄망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942539" y="4892040"/>
            <a:ext cx="1484986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42539" y="4892040"/>
            <a:ext cx="1484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계열사 공통망 경유 연결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92117" y="4892040"/>
            <a:ext cx="1781251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2117" y="4892040"/>
            <a:ext cx="17812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회사별 계정·DB·암호화 분리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537960" y="4892040"/>
            <a:ext cx="2373782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4892040"/>
            <a:ext cx="23737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보안 Zone 운영 등급(Tier) 체계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076334" y="4892040"/>
            <a:ext cx="2077517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6334" y="4892040"/>
            <a:ext cx="20775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금융보안원 가이드 · 자체 위험평가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 · PRINCIPLES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설계 원칙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아키텍처 전체를 관통하는 6가지 원칙입니다. 이후 모든 슬라이드는 이 원칙을 구체화한 것입니다.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03911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1343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폐쇄망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7063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게이트웨이·NAT를 두지 않고, 그룹 데이터센터와 전용회선(Direct Connect/ExpressRoute)으로만 연결합니다.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53458" y="187452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36338" y="203911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36338" y="231343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공통망 경유 연결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36338" y="277063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계열사망은 서로 직접 연결하지 않고, 반드시 그룹 공통망(Common Network Zone) 하나만 거칩니다.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03997" y="187452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86877" y="203911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86877" y="231343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회사·환경별 계정 분리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386877" y="277063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계열사마다, 그리고 운영·Stage·Test마다 별도 Account/Subscription을 발급합니다.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420624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85800" y="437083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64515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인스턴스·암호화 분리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10235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DB는 회사·환경별로 완전히 별도 인스턴스이며, 암호화 키도 회사 간 절대 공유하지 않습니다.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53458" y="420624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36338" y="437083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36338" y="464515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보안관제는 통합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4536338" y="510235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Zone·SOC·SIEM은 계열사 공통 1곳으로 통합해 관제 사각지대를 없앱니다.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03997" y="420624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86877" y="437083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386877" y="464515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규정·위험평가 준수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386877" y="510235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금융보안원 가이드라인, 전자금융감독규정과 자체 위험평가(CSA) 절차를 전제로 설계합니다.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CLASSIFICATION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Zone과 영역은 무엇으로 나누는가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경계선은 임의로 그은 것이 아니라 다음 5가지 기준 중 하나에 대응됩니다.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7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1 · 회사 단위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/ 구독 경계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계열사마다 AWS Account / Azure Subscription을 완전히 별도로 발급하는, 가장 상위의 격리 경계입니다.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94955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77835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8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2 · 환경 단위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977835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운영·Stage·Test 경계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77835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회사 안에서도 운영 계정만 실 개인신용정보를 보유하고, Stage는 마스킹, Test는 접근 자체를 차단합니다.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86990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9870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D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3 · 업무 계층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269870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Web·WAS·DB Zone 경계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269870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→ WAS → DB → 관리 4개 Subnet으로 나누고, 계층을 건너뛰는 접근은 차단합니다.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79025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61905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4 · 보안 등급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561905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 처리 여부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561905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개인신용정보를 저장하는 DB Zone은 다른 Zone보다 한 단계 높은 통제를 추가 적용합니다.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671060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53940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5 · 소속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853940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전용(Dedicated) vs 공통(Shared)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853940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인증·관제·백업처럼 공유 가능한 기능만 계열사 공통 계정에 두고, 업무 시스템은 회사 전용 계정에 둡니다.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운영·Stage·Test는 무엇으로 구분해야 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"환경을 나눈다"는 계정만 3개 만드는 것이 아닙니다. 아래 9가지 기준을 모두 다르게 적용해야 환경 분리가 실제로 작동합니다.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구분 기준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Production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Stage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Test / Dev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계정/구독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 Account/Subscription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Account/Subscription(Prod와 Peering 없음)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Account/Subscription(Prod 접근 원천 차단)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 VPC/VNet · Multi-AZ 이중화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VPC/VNet · 축소 구성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VPC/VNet · 최소 구성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E45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 개인신용정보(원본)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마스킹·익명화 데이터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더미/샘플 데이터만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인스턴스·키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 인스턴스 + 전용 암호화 키(고가용성)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인스턴스 + 별도 키(단일 AZ 가능)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인스턴스 + 별도 키(최소 사양)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 권한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최소 인원 + PAM 승인 필수(Tier 1)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운영·QA팀 제한적 접근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자율 접근(계정 내부)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변경관리위원회 사전승인 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변경 절차(경량 승인)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자유 배포(CI/CD, 승인 불요)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모니터링·로그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상시 실시간 관제 + 장기 보존(2년 이상)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 검증용 모니터링 + 단기 보존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로그만, 단기 보존(30일 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태그/명명규칙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env=prod 필수 태깅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env=stage 필수 태깅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env=dev/test 필수 태깅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규모(Sizing)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트래픽 기준 풀 사이즈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Prod 대비 축소 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최소 사이즈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아키텍처 개요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AWS·Azure 각각에 동일한 구조(공통망 + 계열사 A + 계열사 B)를 구성합니다. 두 클라우드는 그룹 본사를 통해서만 만납니다.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727448" y="1481328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37176" y="148132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본사(On-Premise)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 · 마스터 AD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H="1">
            <a:off x="3291840" y="1984248"/>
            <a:ext cx="2194560" cy="411480"/>
          </a:xfrm>
          <a:prstGeom prst="line">
            <a:avLst/>
          </a:prstGeom>
          <a:noFill/>
          <a:ln w="19050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013448" y="1984248"/>
            <a:ext cx="2130552" cy="411480"/>
          </a:xfrm>
          <a:prstGeom prst="line">
            <a:avLst/>
          </a:prstGeom>
          <a:noFill/>
          <a:ln w="19050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02920" y="2395728"/>
            <a:ext cx="5394960" cy="3794760"/>
          </a:xfrm>
          <a:prstGeom prst="roundRect">
            <a:avLst>
              <a:gd name="adj" fmla="val 1928"/>
            </a:avLst>
          </a:prstGeom>
          <a:solidFill>
            <a:srgbClr val="F3E3D1"/>
          </a:solidFill>
          <a:ln w="19050">
            <a:solidFill>
              <a:srgbClr val="B564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5054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4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 Web Services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91072" y="2395728"/>
            <a:ext cx="5394960" cy="3794760"/>
          </a:xfrm>
          <a:prstGeom prst="roundRect">
            <a:avLst>
              <a:gd name="adj" fmla="val 1928"/>
            </a:avLst>
          </a:prstGeom>
          <a:solidFill>
            <a:srgbClr val="DCE8F1"/>
          </a:solidFill>
          <a:ln w="19050">
            <a:solidFill>
              <a:srgbClr val="2E6DA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73952" y="25054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Azure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2871216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E4E5F0"/>
          </a:solidFill>
          <a:ln w="15875">
            <a:solidFill>
              <a:srgbClr val="5B60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5528" y="2871216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공통(Shared) — 공통망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 GW/VWAN Hub · 통합인증 · SIEM · 공통백업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73952" y="2871216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E4E5F0"/>
          </a:solidFill>
          <a:ln w="15875">
            <a:solidFill>
              <a:srgbClr val="5B60A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871216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공통(Shared) — 공통망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 GW/VWAN Hub · 통합인증 · SIEM · 공통백업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3931920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DCEFE6"/>
          </a:solidFill>
          <a:ln w="15875">
            <a:solidFill>
              <a:srgbClr val="2C7D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" y="3931920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A — Prod·Stage·Test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VPC/VNet 전용 · Web/WAS/DB/관리 4-Zone · DB 전용키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73952" y="3931920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DCEFE6"/>
          </a:solidFill>
          <a:ln w="15875">
            <a:solidFill>
              <a:srgbClr val="2C7D6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0" y="3931920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A — Prod·Stage·Test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VPC/VNet 전용 · Web/WAS/DB/관리 4-Zone · DB 전용키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" y="4992624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F0E1EC"/>
          </a:solidFill>
          <a:ln w="15875">
            <a:solidFill>
              <a:srgbClr val="8B4F8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4992624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B — Prod·Stage·Test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A사와 동일 패턴 · 전용 VIF/Circuit · DB 전용키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73952" y="4992624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F0E1EC"/>
          </a:solidFill>
          <a:ln w="15875">
            <a:solidFill>
              <a:srgbClr val="8B4F8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4992624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B — Prod·Stage·Test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A사와 동일 패턴 · 전용 VIF/Circuit · DB 전용키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367528" y="208483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전용회선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58795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⋯ 계열사 C, D … N — 동일 패턴 반복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473952" y="58795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⋯ 계열사 C, D … N — 동일 패턴 반복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— 계열사 A Production 상세 구조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→ WAS → DB → 관리 순서로만 통신이 허용됩니다. DB Zone은 개인신용정보를 저장하므로 회사 전용 키로 암호화합니다.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828800" y="1554480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38528" y="1554480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ALB + EC2 웹서버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AWS WAF · Security Group · Network Firewall(IPS)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38528" y="1664208"/>
            <a:ext cx="219456" cy="219456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938528" y="16642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</a:t>
            </a:r>
            <a:endParaRPr lang="en-US" sz="600" dirty="0"/>
          </a:p>
        </p:txBody>
      </p:sp>
      <p:sp>
        <p:nvSpPr>
          <p:cNvPr id="9" name="Shape 7"/>
          <p:cNvSpPr/>
          <p:nvPr/>
        </p:nvSpPr>
        <p:spPr>
          <a:xfrm>
            <a:off x="6094476" y="2395728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828800" y="2706624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938528" y="2706624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WAS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 / ECS 애플리케이션 서버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Session Manager(서버접근통제) · 백신 Agent · DAM Agent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938528" y="2816352"/>
            <a:ext cx="219456" cy="219456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938528" y="28163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SRV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6094476" y="3547872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828800" y="3858768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38528" y="3858768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AE4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ZONE(SUBNET) · 개인신용정보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 Aurora / RDS(회사 A 전용 인스턴스)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KMS CMK(A사 전용키) · DAM(DB 접근통제) · 컬럼 암호화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38528" y="3968496"/>
            <a:ext cx="219456" cy="219456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938528" y="39684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endParaRPr lang="en-US" sz="600" dirty="0"/>
          </a:p>
        </p:txBody>
      </p:sp>
      <p:sp>
        <p:nvSpPr>
          <p:cNvPr id="19" name="Shape 17"/>
          <p:cNvSpPr/>
          <p:nvPr/>
        </p:nvSpPr>
        <p:spPr>
          <a:xfrm>
            <a:off x="6094476" y="4700016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828800" y="5010912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38528" y="5010912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Bastion 연동 · Systems Manager · S3(로그·백업 저장)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PAM 연동 · CloudWatch Agent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938528" y="5120640"/>
            <a:ext cx="219456" cy="219456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938528" y="5120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</a:t>
            </a:r>
            <a:endParaRPr lang="en-US" sz="60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— 계열사 A Production 상세 구조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→ WAS → DB → 관리 순서로만 통신이 허용됩니다. DB Zone은 개인신용정보를 저장하므로 회사 전용 키로 암호화합니다.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828800" y="1554480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38528" y="1554480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Application Gateway + VM 웹서버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Azure WAF · NSG · Azure Firewall(IPS)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38528" y="1664208"/>
            <a:ext cx="219456" cy="219456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938528" y="16642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</a:t>
            </a:r>
            <a:endParaRPr lang="en-US" sz="600" dirty="0"/>
          </a:p>
        </p:txBody>
      </p:sp>
      <p:sp>
        <p:nvSpPr>
          <p:cNvPr id="9" name="Shape 7"/>
          <p:cNvSpPr/>
          <p:nvPr/>
        </p:nvSpPr>
        <p:spPr>
          <a:xfrm>
            <a:off x="6094476" y="2395728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828800" y="2706624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938528" y="2706624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WAS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VM / App Service 애플리케이션 서버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Azure Bastion(서버접근통제) · 백신 Agent · DAM Agent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938528" y="2816352"/>
            <a:ext cx="219456" cy="219456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938528" y="28163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SRV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6094476" y="3547872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828800" y="3858768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38528" y="3858768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AE4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ZONE(SUBNET) · 개인신용정보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SQL Managed Instance(회사 A 전용 인스턴스)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Key Vault Key(A사 전용키) · DAM(DB 접근통제) · Always Encrypted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38528" y="3968496"/>
            <a:ext cx="219456" cy="219456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938528" y="39684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endParaRPr lang="en-US" sz="600" dirty="0"/>
          </a:p>
        </p:txBody>
      </p:sp>
      <p:sp>
        <p:nvSpPr>
          <p:cNvPr id="19" name="Shape 17"/>
          <p:cNvSpPr/>
          <p:nvPr/>
        </p:nvSpPr>
        <p:spPr>
          <a:xfrm>
            <a:off x="6094476" y="4700016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828800" y="5010912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38528" y="5010912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Bastion 연동 · Update Manager · Blob Storage(로그·백업 저장)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PAM 연동 · Azure Monitor Agent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938528" y="5120640"/>
            <a:ext cx="219456" cy="219456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938528" y="5120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</a:t>
            </a:r>
            <a:endParaRPr lang="en-US" sz="60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NETWORK DETAIL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— 상세 네트워크 구성도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A Production 기준 Region · VPC · 가용영역 · Subnet CIDR 구성입니다. 인터넷 게이트웨이는 두지 않습니다.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7295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9050">
            <a:solidFill>
              <a:srgbClr val="B7BBA9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Region — ap-northeast-2(서울)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64792"/>
            <a:ext cx="109115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↑ 전용회선(Direct Connect, 이중화) — 그룹 데이터센터 · 인터넷 게이트웨이 없음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20824"/>
            <a:ext cx="10911535" cy="3749040"/>
          </a:xfrm>
          <a:prstGeom prst="roundRect">
            <a:avLst>
              <a:gd name="adj" fmla="val 1707"/>
            </a:avLst>
          </a:prstGeom>
          <a:solidFill>
            <a:srgbClr val="F3E3D1"/>
          </a:solidFill>
          <a:ln w="19050">
            <a:solidFill>
              <a:srgbClr val="B564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2093976"/>
            <a:ext cx="10582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4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VPC — 계열사 A 전용 · 10.10.0.0/16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" y="2404872"/>
            <a:ext cx="5222596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B7BBA9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914400" y="2478024"/>
            <a:ext cx="50031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AVAILABILITY ZONE 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14400" y="271576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" y="2916936"/>
            <a:ext cx="182880" cy="182880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29169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</a:t>
            </a:r>
            <a:endParaRPr lang="en-US" sz="600" dirty="0"/>
          </a:p>
        </p:txBody>
      </p:sp>
      <p:sp>
        <p:nvSpPr>
          <p:cNvPr id="15" name="Text 13"/>
          <p:cNvSpPr txBox="1"/>
          <p:nvPr/>
        </p:nvSpPr>
        <p:spPr>
          <a:xfrm>
            <a:off x="1225296" y="2715768"/>
            <a:ext cx="46008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 Subnet · 10.10.1.0/24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EC2(웹서버) + ALB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914400" y="335584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9264" y="3557016"/>
            <a:ext cx="182880" cy="182880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" y="35570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SRV</a:t>
            </a:r>
            <a:endParaRPr lang="en-US" sz="600" dirty="0"/>
          </a:p>
        </p:txBody>
      </p:sp>
      <p:sp>
        <p:nvSpPr>
          <p:cNvPr id="19" name="Text 17"/>
          <p:cNvSpPr txBox="1"/>
          <p:nvPr/>
        </p:nvSpPr>
        <p:spPr>
          <a:xfrm>
            <a:off x="1225296" y="3355848"/>
            <a:ext cx="46008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WAS Subnet · 10.10.2.0/24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EC2(WAS) · ETL/배치 서버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14400" y="399592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4DFDA"/>
          </a:solidFill>
          <a:ln/>
        </p:spPr>
      </p:sp>
      <p:sp>
        <p:nvSpPr>
          <p:cNvPr id="21" name="Shape 19"/>
          <p:cNvSpPr/>
          <p:nvPr/>
        </p:nvSpPr>
        <p:spPr>
          <a:xfrm>
            <a:off x="969264" y="4197096"/>
            <a:ext cx="182880" cy="182880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9264" y="41970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endParaRPr lang="en-US" sz="600" dirty="0"/>
          </a:p>
        </p:txBody>
      </p:sp>
      <p:sp>
        <p:nvSpPr>
          <p:cNvPr id="23" name="Text 21"/>
          <p:cNvSpPr txBox="1"/>
          <p:nvPr/>
        </p:nvSpPr>
        <p:spPr>
          <a:xfrm>
            <a:off x="1225296" y="3995928"/>
            <a:ext cx="46008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Subnet · 10.10.3.0/24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Aurora/RDS(Primary)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64428" y="2404872"/>
            <a:ext cx="5222596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B7BBA9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6274156" y="2478024"/>
            <a:ext cx="50031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AVAILABILITY ZONE B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74156" y="271576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27" name="Shape 25"/>
          <p:cNvSpPr/>
          <p:nvPr/>
        </p:nvSpPr>
        <p:spPr>
          <a:xfrm>
            <a:off x="6329020" y="2916936"/>
            <a:ext cx="182880" cy="182880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29020" y="29169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</a:t>
            </a:r>
            <a:endParaRPr lang="en-US" sz="600" dirty="0"/>
          </a:p>
        </p:txBody>
      </p:sp>
      <p:sp>
        <p:nvSpPr>
          <p:cNvPr id="29" name="Text 27"/>
          <p:cNvSpPr txBox="1"/>
          <p:nvPr/>
        </p:nvSpPr>
        <p:spPr>
          <a:xfrm>
            <a:off x="6585052" y="2715768"/>
            <a:ext cx="46008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 Subnet · 10.10.11.0/24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EC2(웹서버) + ALB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274156" y="335584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31" name="Shape 29"/>
          <p:cNvSpPr/>
          <p:nvPr/>
        </p:nvSpPr>
        <p:spPr>
          <a:xfrm>
            <a:off x="6329020" y="3557016"/>
            <a:ext cx="182880" cy="182880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29020" y="35570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SRV</a:t>
            </a:r>
            <a:endParaRPr lang="en-US" sz="600" dirty="0"/>
          </a:p>
        </p:txBody>
      </p:sp>
      <p:sp>
        <p:nvSpPr>
          <p:cNvPr id="33" name="Text 31"/>
          <p:cNvSpPr txBox="1"/>
          <p:nvPr/>
        </p:nvSpPr>
        <p:spPr>
          <a:xfrm>
            <a:off x="6585052" y="3355848"/>
            <a:ext cx="46008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WAS Subnet · 10.10.12.0/24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EC2(WAS) · 모니터링 EC2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274156" y="399592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4DFDA"/>
          </a:solidFill>
          <a:ln/>
        </p:spPr>
      </p:sp>
      <p:sp>
        <p:nvSpPr>
          <p:cNvPr id="35" name="Shape 33"/>
          <p:cNvSpPr/>
          <p:nvPr/>
        </p:nvSpPr>
        <p:spPr>
          <a:xfrm>
            <a:off x="6329020" y="4197096"/>
            <a:ext cx="182880" cy="182880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29020" y="41970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endParaRPr lang="en-US" sz="600" dirty="0"/>
          </a:p>
        </p:txBody>
      </p:sp>
      <p:sp>
        <p:nvSpPr>
          <p:cNvPr id="37" name="Text 35"/>
          <p:cNvSpPr txBox="1"/>
          <p:nvPr/>
        </p:nvSpPr>
        <p:spPr>
          <a:xfrm>
            <a:off x="6585052" y="3995928"/>
            <a:ext cx="46008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Subnet · 10.10.13.0/24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Aurora/RDS(Standby)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04672" y="4864608"/>
            <a:ext cx="10582351" cy="502920"/>
          </a:xfrm>
          <a:prstGeom prst="roundRect">
            <a:avLst>
              <a:gd name="adj" fmla="val 9091"/>
            </a:avLst>
          </a:prstGeom>
          <a:solidFill>
            <a:srgbClr val="F2E8CD"/>
          </a:solidFill>
          <a:ln/>
        </p:spPr>
      </p:sp>
      <p:sp>
        <p:nvSpPr>
          <p:cNvPr id="39" name="Shape 37"/>
          <p:cNvSpPr/>
          <p:nvPr/>
        </p:nvSpPr>
        <p:spPr>
          <a:xfrm>
            <a:off x="914400" y="5015484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14400" y="501548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</a:t>
            </a:r>
            <a:endParaRPr lang="en-US" sz="600" dirty="0"/>
          </a:p>
        </p:txBody>
      </p:sp>
      <p:sp>
        <p:nvSpPr>
          <p:cNvPr id="41" name="Text 39"/>
          <p:cNvSpPr txBox="1"/>
          <p:nvPr/>
        </p:nvSpPr>
        <p:spPr>
          <a:xfrm>
            <a:off x="1188720" y="4864608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Subnet · 10.10.4.0/24 — NAT Gateway(패치용, 전용회선 내부 리포지토리 경유·인터넷 미경유) · Bastion 연동 · S3(로그·백업)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209648" y="5916168"/>
            <a:ext cx="7772400" cy="329184"/>
          </a:xfrm>
          <a:prstGeom prst="roundRect">
            <a:avLst>
              <a:gd name="adj" fmla="val 50000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2209648" y="591616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경계: Network Firewall(IPS/IDS) — 전용회선 진입점 인라인 배치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NETWORK DETAIL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— 상세 네트워크 구성도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A Production 기준 Region · VPC · 가용영역 · Subnet CIDR 구성입니다. 인터넷 게이트웨이는 두지 않습니다.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7295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9050">
            <a:solidFill>
              <a:srgbClr val="B7BBA9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 Azure Region — Korea Central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64792"/>
            <a:ext cx="109115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↑ 전용회선(ExpressRoute, 이중화) — 그룹 데이터센터 · 인터넷 게이트웨이 없음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20824"/>
            <a:ext cx="10911535" cy="3749040"/>
          </a:xfrm>
          <a:prstGeom prst="roundRect">
            <a:avLst>
              <a:gd name="adj" fmla="val 1707"/>
            </a:avLst>
          </a:prstGeom>
          <a:solidFill>
            <a:srgbClr val="DCE8F1"/>
          </a:solidFill>
          <a:ln w="19050">
            <a:solidFill>
              <a:srgbClr val="2E6DA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2093976"/>
            <a:ext cx="10582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VNet — 계열사 A 전용 · 10.20.0.0/16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" y="2404872"/>
            <a:ext cx="5222596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B7BBA9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914400" y="2478024"/>
            <a:ext cx="50031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가용성 영역(ZONE) 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14400" y="271576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" y="2916936"/>
            <a:ext cx="182880" cy="182880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29169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</a:t>
            </a:r>
            <a:endParaRPr lang="en-US" sz="600" dirty="0"/>
          </a:p>
        </p:txBody>
      </p:sp>
      <p:sp>
        <p:nvSpPr>
          <p:cNvPr id="15" name="Text 13"/>
          <p:cNvSpPr txBox="1"/>
          <p:nvPr/>
        </p:nvSpPr>
        <p:spPr>
          <a:xfrm>
            <a:off x="1225296" y="2715768"/>
            <a:ext cx="46008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 Subnet · 10.20.1.0/24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VM(웹서버) + App GW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914400" y="335584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9264" y="3557016"/>
            <a:ext cx="182880" cy="182880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" y="35570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SRV</a:t>
            </a:r>
            <a:endParaRPr lang="en-US" sz="600" dirty="0"/>
          </a:p>
        </p:txBody>
      </p:sp>
      <p:sp>
        <p:nvSpPr>
          <p:cNvPr id="19" name="Text 17"/>
          <p:cNvSpPr txBox="1"/>
          <p:nvPr/>
        </p:nvSpPr>
        <p:spPr>
          <a:xfrm>
            <a:off x="1225296" y="3355848"/>
            <a:ext cx="46008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WAS Subnet · 10.20.2.0/24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VM(WAS) · ETL/배치 서버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14400" y="399592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4DFDA"/>
          </a:solidFill>
          <a:ln/>
        </p:spPr>
      </p:sp>
      <p:sp>
        <p:nvSpPr>
          <p:cNvPr id="21" name="Shape 19"/>
          <p:cNvSpPr/>
          <p:nvPr/>
        </p:nvSpPr>
        <p:spPr>
          <a:xfrm>
            <a:off x="969264" y="4197096"/>
            <a:ext cx="182880" cy="182880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9264" y="41970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endParaRPr lang="en-US" sz="600" dirty="0"/>
          </a:p>
        </p:txBody>
      </p:sp>
      <p:sp>
        <p:nvSpPr>
          <p:cNvPr id="23" name="Text 21"/>
          <p:cNvSpPr txBox="1"/>
          <p:nvPr/>
        </p:nvSpPr>
        <p:spPr>
          <a:xfrm>
            <a:off x="1225296" y="3995928"/>
            <a:ext cx="46008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Subnet · 10.20.3.0/24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SQL MI(Primary)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64428" y="2404872"/>
            <a:ext cx="5222596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B7BBA9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6274156" y="2478024"/>
            <a:ext cx="50031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가용성 영역(ZONE) 2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74156" y="271576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27" name="Shape 25"/>
          <p:cNvSpPr/>
          <p:nvPr/>
        </p:nvSpPr>
        <p:spPr>
          <a:xfrm>
            <a:off x="6329020" y="2916936"/>
            <a:ext cx="182880" cy="182880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29020" y="29169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</a:t>
            </a:r>
            <a:endParaRPr lang="en-US" sz="600" dirty="0"/>
          </a:p>
        </p:txBody>
      </p:sp>
      <p:sp>
        <p:nvSpPr>
          <p:cNvPr id="29" name="Text 27"/>
          <p:cNvSpPr txBox="1"/>
          <p:nvPr/>
        </p:nvSpPr>
        <p:spPr>
          <a:xfrm>
            <a:off x="6585052" y="2715768"/>
            <a:ext cx="46008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 Subnet · 10.20.11.0/24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VM(웹서버) + App GW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274156" y="335584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1F2EF"/>
          </a:solidFill>
          <a:ln/>
        </p:spPr>
      </p:sp>
      <p:sp>
        <p:nvSpPr>
          <p:cNvPr id="31" name="Shape 29"/>
          <p:cNvSpPr/>
          <p:nvPr/>
        </p:nvSpPr>
        <p:spPr>
          <a:xfrm>
            <a:off x="6329020" y="3557016"/>
            <a:ext cx="182880" cy="182880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29020" y="35570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SRV</a:t>
            </a:r>
            <a:endParaRPr lang="en-US" sz="600" dirty="0"/>
          </a:p>
        </p:txBody>
      </p:sp>
      <p:sp>
        <p:nvSpPr>
          <p:cNvPr id="33" name="Text 31"/>
          <p:cNvSpPr txBox="1"/>
          <p:nvPr/>
        </p:nvSpPr>
        <p:spPr>
          <a:xfrm>
            <a:off x="6585052" y="3355848"/>
            <a:ext cx="46008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WAS Subnet · 10.20.12.0/24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VM(WAS) · 모니터링 VM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274156" y="3995928"/>
            <a:ext cx="5003140" cy="585216"/>
          </a:xfrm>
          <a:prstGeom prst="roundRect">
            <a:avLst>
              <a:gd name="adj" fmla="val 6250"/>
            </a:avLst>
          </a:prstGeom>
          <a:solidFill>
            <a:srgbClr val="F4DFDA"/>
          </a:solidFill>
          <a:ln/>
        </p:spPr>
      </p:sp>
      <p:sp>
        <p:nvSpPr>
          <p:cNvPr id="35" name="Shape 33"/>
          <p:cNvSpPr/>
          <p:nvPr/>
        </p:nvSpPr>
        <p:spPr>
          <a:xfrm>
            <a:off x="6329020" y="4197096"/>
            <a:ext cx="182880" cy="182880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29020" y="41970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endParaRPr lang="en-US" sz="600" dirty="0"/>
          </a:p>
        </p:txBody>
      </p:sp>
      <p:sp>
        <p:nvSpPr>
          <p:cNvPr id="37" name="Text 35"/>
          <p:cNvSpPr txBox="1"/>
          <p:nvPr/>
        </p:nvSpPr>
        <p:spPr>
          <a:xfrm>
            <a:off x="6585052" y="3995928"/>
            <a:ext cx="46008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Subnet · 10.20.13.0/24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SQL MI(Secondary)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04672" y="4864608"/>
            <a:ext cx="10582351" cy="502920"/>
          </a:xfrm>
          <a:prstGeom prst="roundRect">
            <a:avLst>
              <a:gd name="adj" fmla="val 9091"/>
            </a:avLst>
          </a:prstGeom>
          <a:solidFill>
            <a:srgbClr val="F2E8CD"/>
          </a:solidFill>
          <a:ln/>
        </p:spPr>
      </p:sp>
      <p:sp>
        <p:nvSpPr>
          <p:cNvPr id="39" name="Shape 37"/>
          <p:cNvSpPr/>
          <p:nvPr/>
        </p:nvSpPr>
        <p:spPr>
          <a:xfrm>
            <a:off x="914400" y="5015484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14400" y="501548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</a:t>
            </a:r>
            <a:endParaRPr lang="en-US" sz="600" dirty="0"/>
          </a:p>
        </p:txBody>
      </p:sp>
      <p:sp>
        <p:nvSpPr>
          <p:cNvPr id="41" name="Text 39"/>
          <p:cNvSpPr txBox="1"/>
          <p:nvPr/>
        </p:nvSpPr>
        <p:spPr>
          <a:xfrm>
            <a:off x="1188720" y="4864608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Subnet · 10.20.4.0/24 — NAT Gateway(패치용, 전용회선 내부 리포지토리 경유·인터넷 미경유) · Bastion 연동 · Blob Storage(로그·백업)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209648" y="5916168"/>
            <a:ext cx="7772400" cy="329184"/>
          </a:xfrm>
          <a:prstGeom prst="roundRect">
            <a:avLst>
              <a:gd name="adj" fmla="val 50000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2209648" y="591616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경계: Azure Firewall(IPS/IDS) — 전용회선 진입점 인라인 배치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COMMON NETWORK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공통망 ↔ 계열사망 연결도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계열사망은 서로 직접 연결되지 않습니다. 모든 계열사망은 그룹 공통망 하나만 거쳐 본사·다른 계열사와 관계를 맺습니다.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727448" y="160020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37176" y="160020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본사(On-Premise)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 · 마스터 AD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099048" y="2103120"/>
            <a:ext cx="9144" cy="50292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029200" y="2139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전용회선(이중화)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13048" y="2606040"/>
            <a:ext cx="4572000" cy="1005840"/>
          </a:xfrm>
          <a:prstGeom prst="roundRect">
            <a:avLst>
              <a:gd name="adj" fmla="val 7273"/>
            </a:avLst>
          </a:prstGeom>
          <a:solidFill>
            <a:srgbClr val="E4E5F0"/>
          </a:solidFill>
          <a:ln w="15875">
            <a:solidFill>
              <a:srgbClr val="5B60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22776" y="2606040"/>
            <a:ext cx="4352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5B60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공통망(Common Network Zone)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 Gateway / Virtual WAN Hub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계열사별 Attachment + 방화벽정책 · 경계 Firewall(IPS) 이중화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411480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DCEFE6"/>
          </a:solidFill>
          <a:ln w="15875">
            <a:solidFill>
              <a:srgbClr val="2C7D6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5528" y="411480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C7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A망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VPC/VNet · 전용 VIF/Circuit 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44568" y="411480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F0E1EC"/>
          </a:solidFill>
          <a:ln w="15875">
            <a:solidFill>
              <a:srgbClr val="8B4F8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54296" y="411480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B4F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B망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VPC/VNet · 전용 VIF/Circuit 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394192" y="411480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E7E9E3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03920" y="411480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N망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⋯ 동일 패턴 반복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flipH="1">
            <a:off x="2240280" y="3611880"/>
            <a:ext cx="2788920" cy="50292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99048" y="3611880"/>
            <a:ext cx="9144" cy="50292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168896" y="3611880"/>
            <a:ext cx="2779776" cy="50292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794760" y="4594860"/>
            <a:ext cx="749808" cy="914"/>
          </a:xfrm>
          <a:prstGeom prst="line">
            <a:avLst/>
          </a:prstGeom>
          <a:noFill/>
          <a:ln w="15875">
            <a:solidFill>
              <a:srgbClr val="8F322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653528" y="4594860"/>
            <a:ext cx="740664" cy="914"/>
          </a:xfrm>
          <a:prstGeom prst="line">
            <a:avLst/>
          </a:prstGeom>
          <a:noFill/>
          <a:ln w="15875">
            <a:solidFill>
              <a:srgbClr val="8F3226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3794760" y="4302252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직접연결 없음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653528" y="4302252"/>
            <a:ext cx="740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직접연결 없음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2760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계열사 간 Peering 미생성 · 공통망 라우팅 테이블에 상호 경로 없음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· TERMINOLOGY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↔ Azure 명칭 비교표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줄에 배치된 요소들의 정식 서비스명입니다. 제안서·심사 대응 문서에 그대로 인용할 수 있습니다.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8585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301752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구분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AWS 명칭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명칭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역할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최상위 격리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Account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Subscription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회사·환경별 최상위 격리 단위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가상 네트워크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VPC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VNet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회사별 네트워크 격리 단위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Subnet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Subnet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Web/WAS/DB/관리 계층 분리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컴퓨팅 인스턴스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Virtual Machine(VM)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Web·WAS Zone 서버 컴퓨팅 자원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로드밸런서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Application Gateway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Zone 내부 트래픽 분산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오브젝트 스토리지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S3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Blob Storage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로그·백업 저장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인스턴스 방화벽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Security Group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NSG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단위 최소권한 통신 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전용회선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Direct Connect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ExpressRoute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본사 ↔ 클라우드 폐쇄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사내망 허브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Transit Gateway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Virtual WAN Hub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VPC/VNet 집중 연결·라우팅 통제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인증(SSO)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IAM Identity Center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Microsoft Entra ID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공통 SSO 통합관리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원격접속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Systems Manager Session Manager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Bastion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SSH/RDP 직접 노출 없이 접속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웹방화벽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AWS WAF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WAF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공격(SQLi/XSS) 차단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위협 탐지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GuardDuty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Defender for Cloud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이상행위·악성코드 탐지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로그/SIEM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CloudTrail + Security Hub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Monitor + Sentinel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SOC로 통합 수집·상관분석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데이터베이스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Aurora / RDS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SQL Managed Instance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회사·환경별 전용 DB 인스턴스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암호화 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KMS(CMK)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Key Vault(Key)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회사별 별도 발급, 절대 미공유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 탐지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Amazon Macie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Microsoft Purview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개인신용정보 소재 스캔·DLP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· ACCESS CONTROL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통제 방안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관리자는 망분리 전용단말 → VDI → 그룹 공통 Bastion(MFA·PAM) 순서로만 접속할 수 있습니다. 일반 PC의 직접 접속은 차단됩니다.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1945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8F32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828800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32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업무 PC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외부 인터넷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21945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3108960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PC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(망분리 전용단말)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310896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55848" y="310896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VDI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데스크톱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23560" y="2990088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4E5F0"/>
          </a:solidFill>
          <a:ln w="15875">
            <a:solidFill>
              <a:srgbClr val="5B60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33288" y="2990088"/>
            <a:ext cx="2432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5B60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공통 Bastion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 Manager / Azure Bastion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PAM 체크아웃 · MFA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823960" y="192024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33688" y="1920240"/>
            <a:ext cx="24323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AE4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서버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/ WAS Zone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23960" y="384048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2E8CD"/>
          </a:solidFill>
          <a:ln w="15875">
            <a:solidFill>
              <a:srgbClr val="A984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33688" y="3840480"/>
            <a:ext cx="24323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A984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DAM 감사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접근통제(쿼리 로깅)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23960" y="484632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33688" y="4846320"/>
            <a:ext cx="24323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AE4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Zone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 · 암호화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0" y="3451860"/>
            <a:ext cx="457200" cy="9144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166360" y="3451860"/>
            <a:ext cx="411480" cy="9144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8275320" y="2267712"/>
            <a:ext cx="502920" cy="109728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0149840" y="2606040"/>
            <a:ext cx="9144" cy="1207008"/>
          </a:xfrm>
          <a:prstGeom prst="line">
            <a:avLst/>
          </a:prstGeom>
          <a:noFill/>
          <a:ln w="19050">
            <a:solidFill>
              <a:srgbClr val="A9842A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10378440" y="3063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호출 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0149840" y="4526280"/>
            <a:ext cx="9144" cy="292608"/>
          </a:xfrm>
          <a:prstGeom prst="line">
            <a:avLst/>
          </a:prstGeom>
          <a:noFill/>
          <a:ln w="19050">
            <a:solidFill>
              <a:srgbClr val="A9842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2743200" y="2171700"/>
            <a:ext cx="6035040" cy="1280160"/>
          </a:xfrm>
          <a:prstGeom prst="line">
            <a:avLst/>
          </a:prstGeom>
          <a:noFill/>
          <a:ln w="15875">
            <a:solidFill>
              <a:srgbClr val="8F3226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548640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직접 접속 차단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(SSH/RDP 미노출)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3246120" y="38862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인터넷 구간 없음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· JIT ACCESS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— Just-In-Time(JIT) 접근 흐름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평시에는 서버로 가는 경로 자체가 존재하지 않고, 인증·승인·시간제한 조건을 모두 충족했을 때만 정해진 시간 동안 접근이 열립니다.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390699" y="178308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F4DFDA"/>
          </a:solidFill>
          <a:ln w="15875">
            <a:solidFill>
              <a:srgbClr val="8F32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390699" y="1783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🚫 기본 상태 — VM/서버 직접 접근 불가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225339" y="1783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82539" y="1783080"/>
            <a:ext cx="4118458" cy="384048"/>
          </a:xfrm>
          <a:prstGeom prst="roundRect">
            <a:avLst>
              <a:gd name="adj" fmla="val 50000"/>
            </a:avLst>
          </a:prstGeom>
          <a:solidFill>
            <a:srgbClr val="DCEFE6"/>
          </a:solidFill>
          <a:ln w="15875">
            <a:solidFill>
              <a:srgbClr val="2C7D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82539" y="1783080"/>
            <a:ext cx="4118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7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인증·승인·시간제한 충족 시에만 — Time-bound 접근 허용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6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인증(Authentication)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9224" y="290779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" y="29077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6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" y="2889504"/>
            <a:ext cx="202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IAM Identity Center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SSO로 로그인하면 조건부 접근 정책(디바이스·위치·MFA)을 평가합니다. 조건을 만족하지 못하면 이후 단계로 진행되지 않습니다.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3079928" y="2487168"/>
            <a:ext cx="29260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72536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2E8CD"/>
          </a:solidFill>
          <a:ln w="12700">
            <a:solidFill>
              <a:srgbClr val="A9842A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18840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8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권한 승격(Authorization JIT)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18840" y="290779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18840" y="29077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endParaRPr lang="en-US" sz="600" dirty="0"/>
          </a:p>
        </p:txBody>
      </p:sp>
      <p:sp>
        <p:nvSpPr>
          <p:cNvPr id="21" name="Text 19"/>
          <p:cNvSpPr txBox="1"/>
          <p:nvPr/>
        </p:nvSpPr>
        <p:spPr>
          <a:xfrm>
            <a:off x="3774872" y="2889504"/>
            <a:ext cx="202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PAM 승인 + STS AssumeRole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518840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PAM 콘솔에서 대상·사유·기간을 지정해 임시 권한을 요청하면 승인자(관리자)가 승인합니다. 승인 시 시간제한 세션(예: 1시간)의 IAM Role만 발급됩니다.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5949544" y="2487168"/>
            <a:ext cx="29260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42152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88456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6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· 네트워크 접근(Network Access JIT)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88456" y="290779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8456" y="29077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</a:t>
            </a:r>
            <a:endParaRPr lang="en-US" sz="600" dirty="0"/>
          </a:p>
        </p:txBody>
      </p:sp>
      <p:sp>
        <p:nvSpPr>
          <p:cNvPr id="28" name="Text 26"/>
          <p:cNvSpPr txBox="1"/>
          <p:nvPr/>
        </p:nvSpPr>
        <p:spPr>
          <a:xfrm>
            <a:off x="6644488" y="2889504"/>
            <a:ext cx="202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Systems Manager Automation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388456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승인된 요청 시점에만 자동화가 Security Group에 사용자 출발지 IP를 임시 등록합니다. 세션 만료 시 규칙이 자동으로 회수됩니다.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8819159" y="2487168"/>
            <a:ext cx="29260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111767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258071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· 서버 접근(Access)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258071" y="290779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B5642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258071" y="29077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</a:t>
            </a:r>
            <a:endParaRPr lang="en-US" sz="600" dirty="0"/>
          </a:p>
        </p:txBody>
      </p:sp>
      <p:sp>
        <p:nvSpPr>
          <p:cNvPr id="35" name="Text 33"/>
          <p:cNvSpPr txBox="1"/>
          <p:nvPr/>
        </p:nvSpPr>
        <p:spPr>
          <a:xfrm>
            <a:off x="9514103" y="2889504"/>
            <a:ext cx="202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 Manager → WAS/Web Subnet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9258071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 Manager로 대상 EC2에 접속합니다. SSH/RDP 포트는 노출되지 않으며, 세션·명령 이력이 전부 로그로 남습니다. DB는 별도로 DAM을 경유합니다.</a:t>
            </a:r>
            <a:endParaRPr lang="en-US" sz="1030" dirty="0"/>
          </a:p>
        </p:txBody>
      </p:sp>
      <p:sp>
        <p:nvSpPr>
          <p:cNvPr id="37" name="Text 35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· JIT ACCESS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— Just-In-Time(JIT) 접근 흐름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평시에는 서버로 가는 경로 자체가 존재하지 않고, 인증·승인·시간제한 조건을 모두 충족했을 때만 정해진 시간 동안 접근이 열립니다.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390699" y="178308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F4DFDA"/>
          </a:solidFill>
          <a:ln w="15875">
            <a:solidFill>
              <a:srgbClr val="8F32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390699" y="1783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🚫 기본 상태 — VM/서버 직접 접근 불가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225339" y="1783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82539" y="1783080"/>
            <a:ext cx="4118458" cy="384048"/>
          </a:xfrm>
          <a:prstGeom prst="roundRect">
            <a:avLst>
              <a:gd name="adj" fmla="val 50000"/>
            </a:avLst>
          </a:prstGeom>
          <a:solidFill>
            <a:srgbClr val="DCEFE6"/>
          </a:solidFill>
          <a:ln w="15875">
            <a:solidFill>
              <a:srgbClr val="2C7D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82539" y="1783080"/>
            <a:ext cx="4118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7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인증·승인·시간제한 충족 시에만 — Time-bound 접근 허용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D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인증(Authentication)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9224" y="290779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" y="29077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6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" y="2889504"/>
            <a:ext cx="202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Conditional Access(Entra ID)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로그인하면 조건부 액세스 정책이 트리거되어 디바이스·위치·MFA 조건을 평가합니다. 조건을 만족해야만 Azure Portal 접근이 허용됩니다.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3079928" y="2487168"/>
            <a:ext cx="29260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72536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2E8CD"/>
          </a:solidFill>
          <a:ln w="12700">
            <a:solidFill>
              <a:srgbClr val="A9842A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18840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8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권한 승격(Authorization JIT)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18840" y="290779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18840" y="29077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endParaRPr lang="en-US" sz="600" dirty="0"/>
          </a:p>
        </p:txBody>
      </p:sp>
      <p:sp>
        <p:nvSpPr>
          <p:cNvPr id="21" name="Text 19"/>
          <p:cNvSpPr txBox="1"/>
          <p:nvPr/>
        </p:nvSpPr>
        <p:spPr>
          <a:xfrm>
            <a:off x="3774872" y="2889504"/>
            <a:ext cx="202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PIM 승인 + MFA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518840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Azure Bastion Role 등 임시 권한을 요청하면 승인자(관리자)가 요청을 검토하고, 다중인증(MFA) 재확인 후 시간제한 RBAC 역할을 동일 사용자 ID에 임시 할당합니다.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5949544" y="2487168"/>
            <a:ext cx="29260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42152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88456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D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· 네트워크 접근(Network Access JIT)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88456" y="290779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8456" y="29077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</a:t>
            </a:r>
            <a:endParaRPr lang="en-US" sz="600" dirty="0"/>
          </a:p>
        </p:txBody>
      </p:sp>
      <p:sp>
        <p:nvSpPr>
          <p:cNvPr id="28" name="Text 26"/>
          <p:cNvSpPr txBox="1"/>
          <p:nvPr/>
        </p:nvSpPr>
        <p:spPr>
          <a:xfrm>
            <a:off x="6644488" y="2889504"/>
            <a:ext cx="202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Defender for Cloud — JIT VM Access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388456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JIT VM 접근을 요청하면 Defender for Cloud가 허용된 출발지 IP에 한해 지정 포트(3389/22 등)를 임시로 개방합니다. 지정 시간이 지나면 자동으로 닫힙니다.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8819159" y="2487168"/>
            <a:ext cx="29260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5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111767" y="2487168"/>
            <a:ext cx="2577008" cy="3383280"/>
          </a:xfrm>
          <a:prstGeom prst="roundRect">
            <a:avLst>
              <a:gd name="adj" fmla="val 212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63500" dist="25400" dir="5400000">
              <a:srgbClr val="3A3A3A">
                <a:alpha val="1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258071" y="2615184"/>
            <a:ext cx="228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· VM 접근(Access VM)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258071" y="290779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2E6DA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258071" y="29077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</a:t>
            </a:r>
            <a:endParaRPr lang="en-US" sz="600" dirty="0"/>
          </a:p>
        </p:txBody>
      </p:sp>
      <p:sp>
        <p:nvSpPr>
          <p:cNvPr id="35" name="Text 33"/>
          <p:cNvSpPr txBox="1"/>
          <p:nvPr/>
        </p:nvSpPr>
        <p:spPr>
          <a:xfrm>
            <a:off x="9514103" y="2889504"/>
            <a:ext cx="202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Bastion → Workload Subnet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9258071" y="3310128"/>
            <a:ext cx="2284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3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Bastion(사용자 IP만 허용)을 거쳐 Workload Subnet의 VM 또는 NIC 수준 NSG가 임시로 RDP/SSH를 허용합니다. 시간 만료 시 NSG 규칙이 자동으로 원복됩니다.</a:t>
            </a:r>
            <a:endParaRPr lang="en-US" sz="1030" dirty="0"/>
          </a:p>
        </p:txBody>
      </p:sp>
      <p:sp>
        <p:nvSpPr>
          <p:cNvPr id="37" name="Text 35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· PERSONAL CREDIT INFO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 보호를 위한 보안장비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개인신용정보를 처리하는 시스템이므로 아래 보안 기능을 전 구간에 배치합니다. AWS·Azure 모두 동일한 배치 기준을 적용합니다.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743200"/>
                <a:gridCol w="3429000"/>
                <a:gridCol w="3429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배치 위치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보안 기능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Hub(경계)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침입방지·차단 방화벽(IPS/IDS)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Network Firewall + GuardDuty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Firewall + Defender(NVA)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웹방화벽(WAF)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AWS WAF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WAF(App Gateway)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WAS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접근통제 + 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Session Manager + 백신 Agent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Bastion + 백신 Agent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암호화(저장데이터)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KMS CMK(회사별) + 컬럼암호화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Key Vault Key(회사별) + Always Encrypted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접근통제(DAM)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3rd-party DAM(Guardium 등) — 양쪽 공통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〃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구간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 탐지/DLP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Amazon Macie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Microsoft Purview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구간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로그/SIEM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CloudTrail + Security Hub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Monitor + Sentinel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특권계정관리(PAM)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3rd-party PAM 솔루션 — 계열사 공통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〃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전용회선 구간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회선 구간 암호화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Direct Connect + MACsec/IPSec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ExpressRoute + MACsec/IPSec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· NETWORK SEGMENTATION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 구간 분리 원칙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회선을 공유하더라도 통신 경로는 반드시 논리적으로 분리합니다.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556434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13055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↔ 클라우드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87752"/>
            <a:ext cx="219067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전용회선은 클라우드당 1식이지만, 회사별 VIF(AWS)/ExpressRoute Circuit(Azure)으로 논리 회선을 나눕니다.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79394" y="1965960"/>
            <a:ext cx="2556434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62274" y="213055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Hub ↔ 계열사 VPC/VNet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62274" y="2587752"/>
            <a:ext cx="219067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 Gateway/Virtual WAN Hub 라우팅 테이블에서 계열사 간 상호 라우팅을 차단합니다.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55868" y="1965960"/>
            <a:ext cx="2556434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8748" y="213055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내부 3-Tier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38748" y="2587752"/>
            <a:ext cx="219067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→ WAS → DB 순서로만 통신을 허용하고, 계층을 건너뛰는 통신은 명시적으로 차단합니다.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32341" y="1965960"/>
            <a:ext cx="2556434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315221" y="213055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간 완전 단절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315221" y="2587752"/>
            <a:ext cx="219067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Prod·Stage·Test는 서로 다른 VPC/VNet이며 Peering을 맺지 않습니다.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· ZONE OPERATIONS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Zone 운영 등급(Tier) 및 책임 체계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Zone은 그리는 것으로 끝나지 않습니다. 등급·운영주체·승인권자·점검주기를 명확히 정해야 실제로 유지됩니다.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8585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37360"/>
                <a:gridCol w="2651760"/>
                <a:gridCol w="2011680"/>
                <a:gridCol w="2148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Zone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통제 등급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운영 주체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승인권자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정기 점검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공통망(Common Network)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AE45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0 · 최고통제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통합 보안관제팀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CISO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상시 모니터링 + 월간 점검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관리(Management) Zone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AE45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통합 보안관제팀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CISO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1회 접근권한 재검토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Zone(개인신용정보)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AE45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정보보호팀 + 그룹 협업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정보보호책임자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월간 접근이력 + 분기 취약점점검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WAS Zone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월간 패치·백신 점검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Zone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월간 WAF 룰셋 점검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Stage/Test 환경 전체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개발팀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 시점 스캔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· ZONE OPERATIONS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Zone 간 통신 허용 매트릭스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From(가로) → To(세로) 방향 통신 허용 여부입니다. 허용 · 예외 승인 시만(경유 필수) · 차단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585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1600200"/>
                <a:gridCol w="1600200"/>
                <a:gridCol w="1600200"/>
                <a:gridCol w="1600200"/>
                <a:gridCol w="15087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From ↓ / To →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Internet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공통망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Web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WAS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DB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관리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Internet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예외(방화벽)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허용(관제)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허용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WAS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응답만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허용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응답만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예외(DAM)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허용(전용)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예외(Bastion)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예외(Bastion)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예외(DAM)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· ZONE OPERATIONS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방화벽·라우팅 변경관리 절차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0·1 Zone의 통신 정책 변경은 반드시 아래 5단계를 거칩니다.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1F2EF"/>
          </a:solidFill>
          <a:ln w="12700">
            <a:solidFill>
              <a:srgbClr val="D8DB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신청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16916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담당자가 변경 요청서(사유·대상 Zone·기간)를 제출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23560" y="2350008"/>
            <a:ext cx="9144" cy="256032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02920" y="26060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1F2EF"/>
          </a:solidFill>
          <a:ln w="12700">
            <a:solidFill>
              <a:srgbClr val="D8DB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6060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위험성 검토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26060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정보보호팀이 개인신용정보 영향도·최소권한 위배 여부 검토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23560" y="3264408"/>
            <a:ext cx="9144" cy="256032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02920" y="35204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4DFDA"/>
          </a:solidFill>
          <a:ln w="12700">
            <a:solidFill>
              <a:srgbClr val="AE453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520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· 승인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35204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0·1 Zone은 변경관리위원회(그룹 CISO 포함) 사전 승인 필수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23560" y="4178808"/>
            <a:ext cx="9144" cy="256032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02920" y="44348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1F2EF"/>
          </a:solidFill>
          <a:ln w="12700">
            <a:solidFill>
              <a:srgbClr val="D8DBD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4348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· 적용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44348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통합 보안관제팀이 직접 적용, 변경 전/후 스냅샷 보관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23560" y="5093208"/>
            <a:ext cx="9144" cy="256032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02920" y="53492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1F2EF"/>
          </a:solidFill>
          <a:ln w="12700">
            <a:solidFill>
              <a:srgbClr val="D8DBD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3492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· 사후 검증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53492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72시간 이내 이상 트래픽·의도치 않은 허용 여부 재확인, 미비 시 즉시 롤백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COMPLIANCE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금융보안원 가이드라인 준수 절차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「금융분야 클라우드컴퓨팅서비스 이용 가이드」(금융보안원)·전자금융감독규정·신용정보법의 요구에 따라, 이용 전 아래 절차를 순서대로 거칩니다.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556434" cy="2651760"/>
          </a:xfrm>
          <a:prstGeom prst="roundRect">
            <a:avLst>
              <a:gd name="adj" fmla="val 2146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130552"/>
            <a:ext cx="21906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사전 절차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0487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정보보호위원회 심의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62072"/>
            <a:ext cx="219067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전환 대상 시스템(특히 개인신용정보 처리 시스템)을 그룹 정보보호위원회에서 심의·의결합니다.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79394" y="1965960"/>
            <a:ext cx="2556434" cy="2651760"/>
          </a:xfrm>
          <a:prstGeom prst="roundRect">
            <a:avLst>
              <a:gd name="adj" fmla="val 2146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2274" y="2130552"/>
            <a:ext cx="21906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사전 절차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562274" y="240487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CSP 보안인증(CSAP) 확인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562274" y="2862072"/>
            <a:ext cx="219067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이용하려는 AWS/Azure 리전·서비스가 클라우드보안인증(CSAP) 등급을 충족하는지 확인합니다.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55868" y="1965960"/>
            <a:ext cx="2556434" cy="2651760"/>
          </a:xfrm>
          <a:prstGeom prst="roundRect">
            <a:avLst>
              <a:gd name="adj" fmla="val 2146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38748" y="2130552"/>
            <a:ext cx="21906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사전 절차 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38748" y="240487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중요정보처리시스템 해당 여부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38748" y="2862072"/>
            <a:ext cx="219067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전자금융감독규정상 중요정보처리시스템에 해당하면 금융위원회 사전 보고·신고 절차를 완료합니다.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32341" y="1965960"/>
            <a:ext cx="2556434" cy="2651760"/>
          </a:xfrm>
          <a:prstGeom prst="roundRect">
            <a:avLst>
              <a:gd name="adj" fmla="val 2146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315221" y="2130552"/>
            <a:ext cx="21906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사전 절차 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315221" y="240487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위험평가(CSA) 실시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315221" y="2862072"/>
            <a:ext cx="219067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전 자체 위험평가(Cloud Security Assessment)를 수행하고 결과를 문서화합니다.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COMPLIANCE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위험평가(CSA) 체크리스트 대응 현황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영역별로 이 아키텍처가 어떻게 반영하는지 정리했습니다.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572000"/>
                <a:gridCol w="4572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평가 영역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점검 항목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이 구성도의 반영 방식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소재지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개인신용정보 저장 리전이 계약·법령상 허용 리전인지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계열사별 리전 고정 배포 + DB 인스턴스 완전 분리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접근통제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최소권한, MFA, 특권계정관리 적용 여부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IAM/RBAC 최소권한 + PAM + Bastion 경유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암호화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저장·전송 구간 암호화 및 키 관리 주체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KMS/Key Vault 회사별 키 완전 분리 발급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망분리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 구간 차단, 전용회선 사용 여부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 폐쇄망 + Direct Connect/ExpressRoute 이중화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침해사고 대응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탐지~통보~복구 절차 및 목표시간(SLA)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공통망 SOC(SIEM 통합) + Tier 0 운영 체계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클라우드 종료(Exit)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종료·이관 시 데이터 반환·삭제 절차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계약서상 데이터반환권·삭제증적 확보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가용성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CSP의 재해복구·이중화 보장 수준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Multi-AZ/가용성 영역(AZ) 이중화 전 계정 적용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COMPLIANCE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법령별 안전성 확보조치 이행 현황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개인정보보호법·신용정보법·전자금융감독규정이 요구하는 기술적·관리적·물리적 보호조치의 이 아키텍처상 반영 현황입니다.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8585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108960"/>
                <a:gridCol w="3291840"/>
                <a:gridCol w="3566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구분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조치 항목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관련 법령·기준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이 구성도의 반영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6DA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접근권한의 관리(계정별 권한 부여·회수)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시행령 §30, 신용정보업감독규정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IAM Role/RBAC 최소권한 + JIT 승인(08)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6DA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접근통제(비인가자 접근 제한)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§29, 전자금융감독규정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PAM+Bastion 경유, 관리 Subnet 격리, WAF/방화벽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6DA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고유식별정보 등 암호화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§24·§29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암호화(KMS/Key Vault, 회사별 전용키), 전송구간 TLS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6DA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접속기록의 보관 및 위·변조 방지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시행령 §30, 전자금융감독규정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공통망 SIEM 통합 수집 + 불변 스토리지 2년 이상 보존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관리계획 수립·시행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§29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정보보호위원회 심의(사전절차 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정기적 자체 점검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신용정보업감독규정, 전자금융감독규정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위험평가(CSA) 연 1회 이상 + 취약점 점검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수탁자(위탁업체) 관리·감독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§26, 신용정보법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CSP 계약서 감사권·재위탁 통제 조항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8B4F8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전산실·데이터센터 물리적 접근 통제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 시행령 §30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CSP 공동책임모델상 CSP 소관 — 계약서에 물리보안 수준(CSAP 등) 명시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8B4F8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재해복구 및 이중화 체계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전자금융감독규정(안전성 확보의무)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Multi-AZ/가용성 영역 이중화 + Cross-Region 백업(04)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8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COMPLIANCE — 사후관리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22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 이후에도 계속 확인해야 할 4가지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556434" cy="2103120"/>
          </a:xfrm>
          <a:prstGeom prst="roundRect">
            <a:avLst>
              <a:gd name="adj" fmla="val 3478"/>
            </a:avLst>
          </a:prstGeom>
          <a:solidFill>
            <a:srgbClr val="17223C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74520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 주기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50008"/>
            <a:ext cx="21906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위험평가는 연 1회 이상, 또는 아키텍처가 실질적으로 변경될 때마다 재실시합니다.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79394" y="1691640"/>
            <a:ext cx="2556434" cy="2103120"/>
          </a:xfrm>
          <a:prstGeom prst="roundRect">
            <a:avLst>
              <a:gd name="adj" fmla="val 3478"/>
            </a:avLst>
          </a:prstGeom>
          <a:solidFill>
            <a:srgbClr val="17223C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2274" y="1874520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계약상 권리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562274" y="2350008"/>
            <a:ext cx="21906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CSP 계약서에 감사권·데이터 반환권·하도급 현황 통지 의무를 명시적으로 포함시킵니다.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55868" y="1691640"/>
            <a:ext cx="2556434" cy="2103120"/>
          </a:xfrm>
          <a:prstGeom prst="roundRect">
            <a:avLst>
              <a:gd name="adj" fmla="val 3478"/>
            </a:avLst>
          </a:prstGeom>
          <a:solidFill>
            <a:srgbClr val="17223C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8748" y="1874520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보존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438748" y="2350008"/>
            <a:ext cx="21906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접속기록 등 로그는 전자금융감독규정 기준(통상 2년 이상)에 맞춰 불변 스토리지에 보존합니다.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32341" y="1691640"/>
            <a:ext cx="2556434" cy="2103120"/>
          </a:xfrm>
          <a:prstGeom prst="roundRect">
            <a:avLst>
              <a:gd name="adj" fmla="val 3478"/>
            </a:avLst>
          </a:prstGeom>
          <a:solidFill>
            <a:srgbClr val="17223C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15221" y="1874520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모의훈련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9315221" y="2350008"/>
            <a:ext cx="21906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공통망 SOC 주관으로 연 1회 이상 침해사고 대응 모의훈련을 계열사 합동으로 실시합니다.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1605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C9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구성도는 참고용 아키텍처 예시입니다. 실제 구축 시 금융보안원 가이드라인·전자금융감독규정·신용정보법과 자체 위험평가(CSA) 결과를 반영해 조정해야 하며, 3rd-party 보안 제품명은 예시이므로 자체 평가를 거쳐 선정하시기 바랍니다.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672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 그룹 멀티클라우드 아키텍처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2026-08-28T02:32:41Z</dcterms:created>
  <dcterms:modified xsi:type="dcterms:W3CDTF">2026-08-28T02:32:41Z</dcterms:modified>
</cp:coreProperties>
</file>