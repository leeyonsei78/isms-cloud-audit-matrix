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HOLDINGS · AWS + AZURE MULTI-CLOUD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542032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그룹 멀티클라우드 아키텍처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675888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계열사·자회사가 AWS·Azure를 함께 사용하는 폐쇄망 아키텍처 — 공통망·계열사망 연결, 보안 Zone 운영, 금융보안원 가이드라인·자체 위험평가(CSA) 준수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4892040"/>
            <a:ext cx="2275027" cy="365760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892040"/>
            <a:ext cx="22750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인터넷 게이트웨이 없음 · 완전 폐쇄망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42539" y="4892040"/>
            <a:ext cx="1484986" cy="365760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42539" y="4892040"/>
            <a:ext cx="1484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계열사 공통망 경유 연결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92117" y="4892040"/>
            <a:ext cx="1781251" cy="365760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92117" y="4892040"/>
            <a:ext cx="17812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회사별 계정·DB·암호화 분리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37960" y="4892040"/>
            <a:ext cx="2373782" cy="365760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4892040"/>
            <a:ext cx="2373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보안 Zone 운영 등급(Tier) 체계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76334" y="4892040"/>
            <a:ext cx="2077517" cy="365760"/>
          </a:xfrm>
          <a:prstGeom prst="roundRect">
            <a:avLst>
              <a:gd name="adj" fmla="val 50000"/>
            </a:avLst>
          </a:prstGeom>
          <a:solidFill>
            <a:srgbClr val="1B2947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6334" y="4892040"/>
            <a:ext cx="20775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4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금융보안원 가이드 · 자체 위험평가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 · PRINCIPLES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원칙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아키텍처 전체를 관통하는 6가지 원칙입니다. 이후 모든 슬라이드는 이 원칙을 구체화한 것입니다.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48477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039112"/>
            <a:ext cx="3119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13432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 폐쇄망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70632"/>
            <a:ext cx="31190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게이트웨이·NAT를 두지 않고, 그룹 데이터센터와 전용회선(Direct Connect/ExpressRoute)으로만 연결합니다.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3458" y="1874520"/>
            <a:ext cx="348477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36338" y="2039112"/>
            <a:ext cx="3119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36338" y="2313432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공통망 경유 연결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2770632"/>
            <a:ext cx="31190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계열사망은 서로 직접 연결하지 않고, 반드시 그룹 공통망(Common Network Zone) 하나만 거칩니다.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03997" y="1874520"/>
            <a:ext cx="348477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86877" y="2039112"/>
            <a:ext cx="3119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86877" y="2313432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회사·환경별 계정 분리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386877" y="2770632"/>
            <a:ext cx="31190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계열사마다, 그리고 운영·Stage·Test마다 별도 Account/Subscription을 발급합니다.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348477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" y="4370832"/>
            <a:ext cx="3119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645152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인스턴스·암호화 분리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102352"/>
            <a:ext cx="31190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DB는 회사·환경별로 완전히 별도 인스턴스이며, 암호화 키도 회사 간 절대 공유하지 않습니다.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3458" y="4206240"/>
            <a:ext cx="348477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36338" y="4370832"/>
            <a:ext cx="3119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36338" y="4645152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보안관제는 통합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36338" y="5102352"/>
            <a:ext cx="31190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Zone·SOC·SIEM은 계열사 공통 1곳으로 통합해 관제 사각지대를 없앱니다.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03997" y="4206240"/>
            <a:ext cx="348477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86877" y="4370832"/>
            <a:ext cx="31190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386877" y="4645152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규정·위험평가 준수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386877" y="5102352"/>
            <a:ext cx="311901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금융보안원 가이드라인, 전자금융감독규정과 자체 위험평가(CSA) 절차를 전제로 설계합니다.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Zone과 영역은 무엇으로 나누는가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경계선은 임의로 그은 것이 아니라 다음 5가지 기준 중 하나에 대응됩니다.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017715" cy="2468880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130552"/>
            <a:ext cx="1651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D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1 · 회사 단위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04872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/ 구독 경계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62072"/>
            <a:ext cx="165195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계열사마다 AWS Account / Azure Subscription을 완전히 별도로 발급하는, 가장 상위의 격리 경계입니다.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4955" y="1965960"/>
            <a:ext cx="2017715" cy="2468880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77835" y="2130552"/>
            <a:ext cx="1651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8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2 · 환경 단위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977835" y="2404872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운영·Stage·Test 경계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977835" y="2862072"/>
            <a:ext cx="165195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회사 안에서도 운영 계정만 실 개인신용정보를 보유하고, Stage는 마스킹, Test는 접근 자체를 차단합니다.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6990" y="1965960"/>
            <a:ext cx="2017715" cy="2468880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9870" y="2130552"/>
            <a:ext cx="1651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D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3 · 업무 계층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269870" y="2404872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Web·WAS·DB Zone 경계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269870" y="2862072"/>
            <a:ext cx="165195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→ WAS → DB → 관리 4개 Subnet으로 나누고, 계층을 건너뛰는 접근은 차단합니다.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79025" y="1965960"/>
            <a:ext cx="2017715" cy="2468880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61905" y="2130552"/>
            <a:ext cx="1651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4 · 보안 등급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561905" y="2404872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개인신용정보 처리 여부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561905" y="2862072"/>
            <a:ext cx="165195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개인신용정보를 저장하는 DB Zone은 다른 Zone보다 한 단계 높은 통제를 추가 적용합니다.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71060" y="1965960"/>
            <a:ext cx="2017715" cy="2468880"/>
          </a:xfrm>
          <a:prstGeom prst="roundRect">
            <a:avLst>
              <a:gd name="adj" fmla="val 2719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53940" y="2130552"/>
            <a:ext cx="16519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 5 · 소속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53940" y="2404872"/>
            <a:ext cx="16519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전용(Dedicated) vs 공통(Shared)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853940" y="2862072"/>
            <a:ext cx="1651955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인증·관제·백업처럼 공유 가능한 기능만 계열사 공통 계정에 두고, 업무 시스템은 회사 전용 계정에 둡니다.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아키텍처 개요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AWS·Azure 각각에 동일한 구조(공통망 + 계열사 A + 계열사 B)를 구성합니다. 두 클라우드는 그룹 본사를 통해서만 만납니다.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27448" y="1481328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37176" y="148132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본사(On-Premise)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 · 마스터 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flipH="1">
            <a:off x="3291840" y="1984248"/>
            <a:ext cx="2194560" cy="411480"/>
          </a:xfrm>
          <a:prstGeom prst="line">
            <a:avLst/>
          </a:prstGeom>
          <a:noFill/>
          <a:ln w="19050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13448" y="1984248"/>
            <a:ext cx="2130552" cy="411480"/>
          </a:xfrm>
          <a:prstGeom prst="line">
            <a:avLst/>
          </a:prstGeom>
          <a:noFill/>
          <a:ln w="19050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395728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3E3D1"/>
          </a:solidFill>
          <a:ln w="19050">
            <a:solidFill>
              <a:srgbClr val="B564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5054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Web Services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91072" y="2395728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DCE8F1"/>
          </a:solidFill>
          <a:ln w="1905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73952" y="25054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D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Azure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871216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E4E5F0"/>
          </a:solidFill>
          <a:ln w="15875">
            <a:solidFill>
              <a:srgbClr val="5B60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871216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공통(Shared) — 공통망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Transit GW/VWAN Hub · 통합인증 · SIEM · 공통백업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73952" y="2871216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E4E5F0"/>
          </a:solidFill>
          <a:ln w="15875">
            <a:solidFill>
              <a:srgbClr val="5B60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871216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공통(Shared) — 공통망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Transit GW/VWAN Hub · 통합인증 · SIEM · 공통백업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DCEFE6"/>
          </a:solidFill>
          <a:ln w="15875">
            <a:solidFill>
              <a:srgbClr val="2C7D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" y="3931920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A — Prod·Stage·Test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VPC/VNet 전용 · Web/WAS/DB/관리 4-Zone · DB 전용키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73952" y="3931920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DCEFE6"/>
          </a:solidFill>
          <a:ln w="15875">
            <a:solidFill>
              <a:srgbClr val="2C7D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3931920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A — Prod·Stage·Test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VPC/VNet 전용 · Web/WAS/DB/관리 4-Zone · DB 전용키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992624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F0E1EC"/>
          </a:solidFill>
          <a:ln w="15875">
            <a:solidFill>
              <a:srgbClr val="8B4F8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" y="4992624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B — Prod·Stage·Test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A사와 동일 패턴 · 전용 VIF/Circuit · DB 전용키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73952" y="4992624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F0E1EC"/>
          </a:solidFill>
          <a:ln w="15875">
            <a:solidFill>
              <a:srgbClr val="8B4F8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4992624"/>
            <a:ext cx="48097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B — Prod·Stage·Test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A사와 동일 패턴 · 전용 VIF/Circuit · DB 전용키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367528" y="2084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전용회선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879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⋯ 계열사 C, D … N — 동일 패턴 반복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5879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⋯ 계열사 C, D … N — 동일 패턴 반복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AWS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— 계열사 A Production 상세 구조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→ WAS → DB → 관리 순서로만 통신이 허용됩니다. DB Zone은 개인신용정보를 저장하므로 회사 전용 키로 암호화합니다.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28800" y="1554480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38528" y="1554480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ZONE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ALB(내부) + EC2 웹서버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AWS WAF · Security Group · Network Firewall(IPS)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4476" y="2395728"/>
            <a:ext cx="9144" cy="310896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0" y="2706624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38528" y="2706624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ZONE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/ ECS 애플리케이션 서버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Session Manager(서버접근통제) · 백신 Agent · DAM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4476" y="3547872"/>
            <a:ext cx="9144" cy="310896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28800" y="3858768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4DFDA"/>
          </a:solidFill>
          <a:ln w="15875">
            <a:solidFill>
              <a:srgbClr val="AE45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38528" y="3858768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E45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ZONE · 개인신용정보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Aurora(회사 A 전용 인스턴스)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KMS CMK(A사 전용키) · DAM(DB 접근통제) · 컬럼 암호화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4476" y="4700016"/>
            <a:ext cx="9144" cy="310896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28800" y="5010912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38528" y="5010912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ZONE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 연동 · 로그 Agent · Systems Manager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PAM 연동 · CloudWatch Agent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AZURE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— 계열사 A Production 상세 구조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→ WAS → DB → 관리 순서로만 통신이 허용됩니다. DB Zone은 개인신용정보를 저장하므로 회사 전용 키로 암호화합니다.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28800" y="1554480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38528" y="1554480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ZONE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 Gateway(내부) + VM 웹서버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Azure WAF · NSG · Azure Firewall(IPS)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4476" y="2395728"/>
            <a:ext cx="9144" cy="310896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0" y="2706624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38528" y="2706624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 ZONE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 / App Service 애플리케이션 서버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Azure Bastion(서버접근통제) · 백신 Agent · DAM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4476" y="3547872"/>
            <a:ext cx="9144" cy="310896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28800" y="3858768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4DFDA"/>
          </a:solidFill>
          <a:ln w="15875">
            <a:solidFill>
              <a:srgbClr val="AE45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38528" y="3858768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AE45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ZONE · 개인신용정보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SQL Managed Instance(회사 A 전용 인스턴스)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Key Vault Key(A사 전용키) · DAM(DB 접근통제) · Always Encrypted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4476" y="4700016"/>
            <a:ext cx="9144" cy="310896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828800" y="5010912"/>
            <a:ext cx="8531352" cy="841248"/>
          </a:xfrm>
          <a:prstGeom prst="roundRect">
            <a:avLst>
              <a:gd name="adj" fmla="val 8696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38528" y="5010912"/>
            <a:ext cx="8311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ZONE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 연동 · 로그 Agent · Update Manager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보안장비: PAM 연동 · Azure Monitor Agent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COMMON NETWORK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공통망 ↔ 계열사망 연결도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계열사망은 서로 직접 연결되지 않습니다. 모든 계열사망은 그룹 공통망 하나만 거쳐 본사·다른 계열사와 관계를 맺습니다.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27448" y="16002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1F2E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37176" y="160020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본사(On-Premise)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 · 마스터 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9048" y="2103120"/>
            <a:ext cx="9144" cy="50292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029200" y="213969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전용회선(이중화)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13048" y="2606040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E4E5F0"/>
          </a:solidFill>
          <a:ln w="15875">
            <a:solidFill>
              <a:srgbClr val="5B60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22776" y="2606040"/>
            <a:ext cx="4352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5B6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공통망(Common Network Zone)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Transit Gateway / Virtual WAN Hub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계열사별 Attachment + 방화벽정책 · 경계 Firewall(IPS) 이중화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DCEFE6"/>
          </a:solidFill>
          <a:ln w="15875">
            <a:solidFill>
              <a:srgbClr val="2C7D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411480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A망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VPC/VNet · 전용 VIF/Circuit 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44568" y="41148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F0E1EC"/>
          </a:solidFill>
          <a:ln w="15875">
            <a:solidFill>
              <a:srgbClr val="8B4F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411480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B4F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B망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VPC/VNet · 전용 VIF/Circuit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94192" y="4114800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E7E9E3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0" y="411480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N망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⋯ 동일 패턴 반복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H="1">
            <a:off x="2240280" y="3611880"/>
            <a:ext cx="2788920" cy="50292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9048" y="3611880"/>
            <a:ext cx="9144" cy="50292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68896" y="3611880"/>
            <a:ext cx="2779776" cy="50292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4594860"/>
            <a:ext cx="749808" cy="914"/>
          </a:xfrm>
          <a:prstGeom prst="line">
            <a:avLst/>
          </a:prstGeom>
          <a:noFill/>
          <a:ln w="15875">
            <a:solidFill>
              <a:srgbClr val="8F322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653528" y="4594860"/>
            <a:ext cx="740664" cy="914"/>
          </a:xfrm>
          <a:prstGeom prst="line">
            <a:avLst/>
          </a:prstGeom>
          <a:noFill/>
          <a:ln w="15875">
            <a:solidFill>
              <a:srgbClr val="8F3226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3794760" y="4302252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32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직접연결 없음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653528" y="4302252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32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직접연결 없음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27608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32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계열사 간 Peering 미생성 · 공통망 라우팅 테이블에 상호 경로 없음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TERMINOLOGY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↔ Azure 명칭 비교표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줄에 배치된 요소들의 정식 서비스명입니다. 제안서·심사 대응 문서에 그대로 인용할 수 있습니다.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585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017520"/>
                <a:gridCol w="3200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구분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 명칭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명칭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역할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최상위 격리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Account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Subscription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회사·환경별 최상위 격리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네트워크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VPC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VNet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회사별 네트워크 격리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Subnet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Subnet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Web/WAS/DB/관리 계층 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인스턴스 방화벽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 Group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NSG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단위 최소권한 통신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전용회선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 Connect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ExpressRoute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본사 ↔ 클라우드 폐쇄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사내망 허브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Transit Gateway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Virtual WAN Hub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VPC/VNet 집중 연결·라우팅 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인증(SSO)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IAM Identity Center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 Entra 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공통 SSO 통합관리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원격접속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Systems Manager Session Manager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Bastion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SSH/RDP 직접 노출 없이 접속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웹방화벽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 WAF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WAF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공격(SQLi/XSS) 차단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위협 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GuardDuty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Defender for Cloud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이상행위·악성코드 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로그/SIEM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CloudTrail + Security Hub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Monitor + Sentinel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SOC로 통합 수집·상관분석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데이터베이스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Aurora / RDS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SQL Managed Instance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회사·환경별 전용 DB 인스턴스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암호화 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KMS(CMK)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Vault(Key)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회사별 별도 발급, 절대 미공유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Amazon Macie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 Purview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개인신용정보 소재 스캔·DLP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ACCESS CONTROL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 방안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망분리 전용단말 → VDI → 그룹 공통 Bastion(MFA·PAM) 순서로만 접속할 수 있습니다. 일반 PC의 직접 접속은 차단됩니다.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8F32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8288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32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업무 PC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외부 인터넷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10896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PC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(망분리 전용단말)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3108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B7BB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3108960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VDI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데스크톱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23560" y="299008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4E5F0"/>
          </a:solidFill>
          <a:ln w="15875">
            <a:solidFill>
              <a:srgbClr val="5B60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33288" y="2990088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6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공통 Bastion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Manager / Azure Bastion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PAM 체크아웃 · MFA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19202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4DFDA"/>
          </a:solidFill>
          <a:ln w="15875">
            <a:solidFill>
              <a:srgbClr val="AE45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33688" y="192024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E45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서버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/ WAS Zone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23960" y="384048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2E8CD"/>
          </a:solidFill>
          <a:ln w="15875">
            <a:solidFill>
              <a:srgbClr val="A984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33688" y="384048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984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 감사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접근통제(쿼리 로깅)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48463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4DFDA"/>
          </a:solidFill>
          <a:ln w="15875">
            <a:solidFill>
              <a:srgbClr val="AE45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33688" y="4846320"/>
            <a:ext cx="2432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AE45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Zone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개인신용정보 · 암호화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0" y="3451860"/>
            <a:ext cx="457200" cy="9144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66360" y="3451860"/>
            <a:ext cx="411480" cy="9144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8275320" y="2267712"/>
            <a:ext cx="502920" cy="1097280"/>
          </a:xfrm>
          <a:prstGeom prst="line">
            <a:avLst/>
          </a:prstGeom>
          <a:noFill/>
          <a:ln w="19050">
            <a:solidFill>
              <a:srgbClr val="1B243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149840" y="2606040"/>
            <a:ext cx="9144" cy="1207008"/>
          </a:xfrm>
          <a:prstGeom prst="line">
            <a:avLst/>
          </a:prstGeom>
          <a:noFill/>
          <a:ln w="19050">
            <a:solidFill>
              <a:srgbClr val="A9842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10378440" y="3063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호출 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149840" y="4526280"/>
            <a:ext cx="9144" cy="292608"/>
          </a:xfrm>
          <a:prstGeom prst="line">
            <a:avLst/>
          </a:prstGeom>
          <a:noFill/>
          <a:ln w="19050">
            <a:solidFill>
              <a:srgbClr val="A9842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2743200" y="2171700"/>
            <a:ext cx="6035040" cy="1280160"/>
          </a:xfrm>
          <a:prstGeom prst="line">
            <a:avLst/>
          </a:prstGeom>
          <a:noFill/>
          <a:ln w="15875">
            <a:solidFill>
              <a:srgbClr val="8F3226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4864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F32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직접 접속 차단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F32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(SSH/RDP 미노출)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38862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인터넷 구간 없음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PERSONAL CREDIT INFO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개인신용정보 보호를 위한 보안장비 배치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개인신용정보를 처리하는 시스템이므로 아래 보안 기능을 전 구간에 배치합니다. AWS·Azure 모두 동일한 배치 기준을 적용합니다.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3429000"/>
                <a:gridCol w="3429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배치 위치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보안 기능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Hub(경계)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침입방지·차단 방화벽(IPS/IDS)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Network Firewall + GuardDuty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Firewall + Defender(NVA)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웹방화벽(WAF)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AWS WAF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WAF(App Gateway)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WAS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접근통제 + 백신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 Manager + 백신 Agent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Bastion + 백신 Agent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암호화(저장데이터)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KMS CMK(회사별) + 컬럼암호화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Vault Key(회사별) + Always Encrypted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접근통제(DAM)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3rd-party DAM(Guardium 등) — 양쪽 공통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탐지/DLP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Amazon Macie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 Purview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로그/SIEM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CloudTrail + Security Hub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Monitor + Sentinel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특권계정관리(PAM)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3rd-party PAM 솔루션 — 계열사 공통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〃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전용회선 구간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회선 구간 암호화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56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Direct Connect + MACsec/IPSec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6DA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ExpressRoute + MACsec/IPSec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NETWORK SEGMENTATION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구간 분리 원칙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회선을 공유하더라도 통신 경로는 반드시 논리적으로 분리합니다.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55643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13055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↔ 클라우드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87752"/>
            <a:ext cx="219067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전용회선은 클라우드당 1식이지만, 회사별 VIF(AWS)/ExpressRoute Circuit(Azure)으로 논리 회선을 나눕니다.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9394" y="1965960"/>
            <a:ext cx="255643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62274" y="213055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 ↔ 계열사 VPC/VNet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62274" y="2587752"/>
            <a:ext cx="219067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Transit Gateway/Virtual WAN Hub 라우팅 테이블에서 계열사 간 상호 라우팅을 차단합니다.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5868" y="1965960"/>
            <a:ext cx="255643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38748" y="213055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내부 3-Tier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38748" y="2587752"/>
            <a:ext cx="219067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→ WAS → DB 순서로만 통신을 허용하고, 계층을 건너뛰는 통신은 명시적으로 차단합니다.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32341" y="1965960"/>
            <a:ext cx="255643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15221" y="213055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간 완전 단절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315221" y="2587752"/>
            <a:ext cx="219067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Prod·Stage·Test는 서로 다른 VPC/VNet이며 Peering을 맺지 않습니다.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ZONE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Zone 운영 등급(Tier) 및 책임 체계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Zone은 그리는 것으로 끝나지 않습니다. 등급·운영주체·승인권자·점검주기를 명확히 정해야 실제로 유지됩니다.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37360"/>
                <a:gridCol w="2651760"/>
                <a:gridCol w="2011680"/>
                <a:gridCol w="2148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Zone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통제 등급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운영 주체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승인권자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정기 점검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공통망(Common Network)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E45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0 · 최고통제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통합 보안관제팀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CISO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상시 모니터링 + 월간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관리(Management) Zone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E45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통합 보안관제팀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CISO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분기 1회 접근권한 재검토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Zone(개인신용정보)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E45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정보보호팀 + 그룹 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정보보호책임자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접근이력 + 분기 취약점점검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WAS Zone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IT운영팀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IT운영팀장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패치·백신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Zone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IT운영팀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IT운영팀장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월간 WAF 룰셋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Stage/Test 환경 전체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Tier 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개발팀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 IT운영팀장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배포 시점 스캔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ZONE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Zone 간 통신 허용 매트릭스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From(가로) → To(세로) 방향 통신 허용 여부입니다. 허용 · 예외 승인 시만(경유 필수) · 차단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585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00200"/>
                <a:gridCol w="1600200"/>
                <a:gridCol w="1600200"/>
                <a:gridCol w="1600200"/>
                <a:gridCol w="1600200"/>
                <a:gridCol w="15087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↓ / To →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Internet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공통망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관리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Internet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95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95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98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예외(방화벽)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7D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허용(관제)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95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7D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허용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WAS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98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응답만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95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7D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허용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98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응답만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95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98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예외(DAM)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Zone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F32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차단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7D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허용(전용)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98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예외(Bastion)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98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예외(Bastion)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A984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예외(DAM)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B95A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ZONE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방화벽·라우팅 변경관리 절차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0·1 Zone의 통신 정책 변경은 반드시 아래 5단계를 거칩니다.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1F2E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신청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691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담당자가 변경 요청서(사유·대상 Zone·기간)를 제출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2350008"/>
            <a:ext cx="9144" cy="256032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260604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1F2E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위험성 검토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6060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 정보보호팀이 개인신용정보 영향도·최소권한 위배 여부 검토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23560" y="3264408"/>
            <a:ext cx="9144" cy="256032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352044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4DFDA"/>
          </a:solidFill>
          <a:ln w="12700">
            <a:solidFill>
              <a:srgbClr val="AE45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5204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승인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3520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0·1 Zone은 변경관리위원회(그룹 CISO 포함) 사전 승인 필수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23560" y="4178808"/>
            <a:ext cx="9144" cy="256032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443484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1F2E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4348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적용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44348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통합 보안관제팀이 직접 적용, 변경 전/후 스냅샷 보관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5093208"/>
            <a:ext cx="9144" cy="256032"/>
          </a:xfrm>
          <a:prstGeom prst="line">
            <a:avLst/>
          </a:prstGeom>
          <a:noFill/>
          <a:ln w="15875">
            <a:solidFill>
              <a:srgbClr val="8B95A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" y="5349240"/>
            <a:ext cx="10241280" cy="658368"/>
          </a:xfrm>
          <a:prstGeom prst="roundRect">
            <a:avLst>
              <a:gd name="adj" fmla="val 8333"/>
            </a:avLst>
          </a:prstGeom>
          <a:solidFill>
            <a:srgbClr val="F1F2EF"/>
          </a:solidFill>
          <a:ln w="12700">
            <a:solidFill>
              <a:srgbClr val="D8DB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349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· 사후 검증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2286000" y="5349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이내 이상 트래픽·의도치 않은 허용 여부 재확인, 미비 시 즉시 롤백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금융보안원 가이드라인 준수 절차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「금융분야 클라우드컴퓨팅서비스 이용 가이드」(금융보안원)·전자금융감독규정·신용정보법의 요구에 따라, 이용 전 아래 절차를 순서대로 거칩니다.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556434" cy="2651760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2130552"/>
            <a:ext cx="21906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사전 절차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0487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정보보호위원회 심의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62072"/>
            <a:ext cx="219067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전환 대상 시스템(특히 개인신용정보 처리 시스템)을 그룹 정보보호위원회에서 심의·의결합니다.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9394" y="1965960"/>
            <a:ext cx="2556434" cy="2651760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62274" y="2130552"/>
            <a:ext cx="21906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사전 절차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62274" y="240487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CSP 보안인증(CSAP) 확인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62274" y="2862072"/>
            <a:ext cx="219067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이용하려는 AWS/Azure 리전·서비스가 클라우드보안인증(CSAP) 등급을 충족하는지 확인합니다.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5868" y="1965960"/>
            <a:ext cx="2556434" cy="2651760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8748" y="2130552"/>
            <a:ext cx="21906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사전 절차 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38748" y="240487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중요정보처리시스템 해당 여부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38748" y="2862072"/>
            <a:ext cx="219067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전자금융감독규정상 중요정보처리시스템에 해당하면 금융위원회 사전 보고·신고 절차를 완료합니다.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32341" y="1965960"/>
            <a:ext cx="2556434" cy="2651760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 w="12700">
            <a:solidFill>
              <a:srgbClr val="D8DBD2"/>
            </a:solidFill>
            <a:prstDash val="solid"/>
          </a:ln>
          <a:effectLst>
            <a:outerShdw sx="100000" sy="100000" kx="0" ky="0" algn="bl" rotWithShape="0" blurRad="76200" dist="25400" dir="5400000">
              <a:srgbClr val="3A3A3A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315221" y="2130552"/>
            <a:ext cx="21906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E45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사전 절차 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15221" y="2404872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위험평가(CSA) 실시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315221" y="2862072"/>
            <a:ext cx="2190674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전 자체 위험평가(Cloud Security Assessment)를 수행하고 결과를 문서화합니다.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위험평가(CSA) 체크리스트 대응 현황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5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영역별로 이 아키텍처가 어떻게 반영하는지 정리했습니다.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58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평가 영역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점검 항목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이 구성도의 반영 방식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소재지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개인신용정보 저장 리전이 계약·법령상 허용 리전인지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계열사별 리전 고정 배포 + DB 인스턴스 완전 분리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접근통제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최소권한, MFA, 특권계정관리 적용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IAM/RBAC 최소권한 + PAM + Bastion 경유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암호화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저장·전송 구간 암호화 및 키 관리 주체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KMS/Key Vault 회사별 키 완전 분리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망분리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인터넷 구간 차단, 전용회선 사용 여부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폐쇄망 + Direct Connect/ExpressRoute 이중화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침해사고 대응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탐지~통보~복구 절차 및 목표시간(SLA)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공통망 SOC(SIEM 통합) + Tier 0 운영 체계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 종료(Exit)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종료·이관 시 데이터 반환·삭제 절차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계약서상 데이터반환권·삭제증적 확보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가용성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B657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CSP의 재해복구·이중화 보장 수준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Multi-AZ/가용성 영역(AZ) 이중화 전 계정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A7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COMPLIANCE — 사후관리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이후에도 계속 확인해야 할 4가지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556434" cy="2103120"/>
          </a:xfrm>
          <a:prstGeom prst="roundRect">
            <a:avLst>
              <a:gd name="adj" fmla="val 3478"/>
            </a:avLst>
          </a:prstGeom>
          <a:solidFill>
            <a:srgbClr val="17223C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 주기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50008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위험평가는 연 1회 이상, 또는 아키텍처가 실질적으로 변경될 때마다 재실시합니다.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9394" y="1691640"/>
            <a:ext cx="2556434" cy="2103120"/>
          </a:xfrm>
          <a:prstGeom prst="roundRect">
            <a:avLst>
              <a:gd name="adj" fmla="val 3478"/>
            </a:avLst>
          </a:prstGeom>
          <a:solidFill>
            <a:srgbClr val="17223C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2274" y="187452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계약상 권리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62274" y="2350008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CSP 계약서에 감사권·데이터 반환권·하도급 현황 통지 의무를 명시적으로 포함시킵니다.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5868" y="1691640"/>
            <a:ext cx="2556434" cy="2103120"/>
          </a:xfrm>
          <a:prstGeom prst="roundRect">
            <a:avLst>
              <a:gd name="adj" fmla="val 3478"/>
            </a:avLst>
          </a:prstGeom>
          <a:solidFill>
            <a:srgbClr val="17223C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187452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보존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2350008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접속기록 등 로그는 전자금융감독규정 기준(통상 2년 이상)에 맞춰 불변 스토리지에 보존합니다.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32341" y="1691640"/>
            <a:ext cx="2556434" cy="2103120"/>
          </a:xfrm>
          <a:prstGeom prst="roundRect">
            <a:avLst>
              <a:gd name="adj" fmla="val 3478"/>
            </a:avLst>
          </a:prstGeom>
          <a:solidFill>
            <a:srgbClr val="17223C"/>
          </a:solidFill>
          <a:ln w="12700">
            <a:solidFill>
              <a:srgbClr val="3A4A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15221" y="1874520"/>
            <a:ext cx="21906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모의훈련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315221" y="2350008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공통망 SOC 주관으로 연 1회 이상 침해사고 대응 모의훈련을 계열사 합동으로 실시합니다.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1605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C97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구성도는 참고용 아키텍처 예시입니다. 실제 구축 시 금융보안원 가이드라인·전자금융감독규정·신용정보법과 자체 위험평가(CSA) 결과를 반영해 조정해야 하며, 3rd-party 보안 제품명은 예시이므로 자체 평가를 거쳐 선정하시기 바랍니다.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그룹 멀티클라우드 아키텍처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2026-08-27T04:36:21Z</dcterms:created>
  <dcterms:modified xsi:type="dcterms:W3CDTF">2026-08-27T04:36:21Z</dcterms:modified>
</cp:coreProperties>
</file>